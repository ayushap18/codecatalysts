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0" y="1828800"/>
            <a:ext cx="393192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FlavorPrint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1089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6F00"/>
                </a:solidFill>
                <a:latin typeface="Calibri"/>
              </a:defRPr>
            </a:pPr>
            <a:r>
              <a:t>Molecular Recipe Fingerprinting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9319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Calibri"/>
              </a:defRPr>
            </a:pPr>
            <a:r>
              <a:t>Every dish has a molecular identity. Find flavor twins across 74 countries.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50292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Team CodeCatalysts  |  ForkIT Challenge 2026  |  IIIT Delhi CoSyLab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5760720"/>
            <a:ext cx="39319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F00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82880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"Finding recipes is easy. Understanding WHY flavors work together,</a:t>
            </a:r>
            <a:br/>
            <a:r>
              <a:t>discovering your dish has a twin 6,000km away, and exploring</a:t>
            </a:r>
            <a:br/>
            <a:r>
              <a:t>the molecular science behind every bite — that's what's missing."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2560320" cy="146304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6F00"/>
                </a:solidFill>
                <a:latin typeface="Calibri"/>
              </a:defRPr>
            </a:pPr>
            <a:r>
              <a:t>118,000+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37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Calibri"/>
              </a:defRPr>
            </a:pPr>
            <a:r>
              <a:t>Recipes in RecipeDB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2560320"/>
            <a:ext cx="2560320" cy="146304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6974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  <a:latin typeface="Calibri"/>
              </a:defRPr>
            </a:pPr>
            <a:r>
              <a:t>25,595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337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Calibri"/>
              </a:defRPr>
            </a:pPr>
            <a:r>
              <a:t>Flavor Molecules in FlavorDB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560320"/>
            <a:ext cx="2560320" cy="146304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6974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91E63"/>
                </a:solidFill>
                <a:latin typeface="Calibri"/>
              </a:defRPr>
            </a:pPr>
            <a:r>
              <a:t>74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337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Calibri"/>
              </a:defRPr>
            </a:pPr>
            <a:r>
              <a:t>Countries Covered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2560320"/>
            <a:ext cx="2560320" cy="146304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59" y="26974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936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59" y="3337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Calibri"/>
              </a:defRPr>
            </a:pPr>
            <a:r>
              <a:t>Food Entities Mapped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The data exists across RecipeDB and FlavorDB. But no one has connected these datasets</a:t>
            </a:r>
            <a:br/>
            <a:r>
              <a:t>to reveal the hidden molecular relationships between the world's cuisines.</a:t>
            </a:r>
          </a:p>
        </p:txBody>
      </p:sp>
      <p:pic>
        <p:nvPicPr>
          <p:cNvPr id="18" name="Picture 17" descr="Screenshot 2026-02-15 at 8.14.27 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206240"/>
            <a:ext cx="4114800" cy="20389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F00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82880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FlavorPrint — a web platform that uses molecular</a:t>
            </a:r>
            <a:br/>
            <a:r>
              <a:t>data to decode WHY flavors work, not just WHAT to cook.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5394960" cy="11887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F00"/>
                </a:solidFill>
                <a:latin typeface="Calibri"/>
              </a:defRPr>
            </a:pPr>
            <a:r>
              <a:t>Recipe Search 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Search 118K+ recipes by title, Recipe of the Day, search history with smart caching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194560"/>
            <a:ext cx="5394960" cy="11887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3317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Flavor Twins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7432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Find recipes from different countries sharing molecular fingerprints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5394960" cy="11887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703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91E63"/>
                </a:solidFill>
                <a:latin typeface="Calibri"/>
              </a:defRPr>
            </a:pPr>
            <a:r>
              <a:t>Philosophy Spectrum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1148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Classify recipes on the Pairing vs Contrast spectrum (Ahn et al., 2011)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566160"/>
            <a:ext cx="5394960" cy="11887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3703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F00"/>
                </a:solidFill>
                <a:latin typeface="Calibri"/>
              </a:defRPr>
            </a:pPr>
            <a:r>
              <a:t>Cuisine DNA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1148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Compare molecular profiles of up to 3 cuisines side-by-side with bar charts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937760"/>
            <a:ext cx="5394960" cy="11887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74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Molecular Kitchen Lab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4864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6-module experimental workspace: Kitchen, Library, Heatmap, Fusion, Live Analysis, API Explorer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937760"/>
            <a:ext cx="5394960" cy="11887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5074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91E63"/>
                </a:solidFill>
                <a:latin typeface="Calibri"/>
              </a:defRPr>
            </a:pPr>
            <a:r>
              <a:t>API Explorer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4864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Browse &amp; test all 62 FlavorDB + RecipeDB endpoints with live runners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F00"/>
                </a:solidFill>
                <a:latin typeface="Calibri"/>
              </a:defRPr>
            </a:pPr>
            <a:r>
              <a:t>FOODOSCOPE API USAGE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228600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We use BOTH RecipeDB and FlavorDB extensively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303520" cy="41148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FlavorDB Endpoints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Calibri"/>
              </a:defRPr>
            </a:pPr>
            <a:r>
              <a:t>/entities/by-entity-alias-readable — Search ingredients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Calibri"/>
              </a:defRPr>
            </a:pPr>
            <a:r>
              <a:t>/entities/by-name-and-category — Filter by category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175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Calibri"/>
              </a:defRPr>
            </a:pPr>
            <a:r>
              <a:t>/entities/by-natural-source — Filter by natural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3832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Calibri"/>
              </a:defRPr>
            </a:pPr>
            <a:r>
              <a:t>/food/by-alias — Food pairing suggestions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4903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Calibri"/>
              </a:defRPr>
            </a:pPr>
            <a:r>
              <a:t>/molecules_data/by-flavorProfile — Molecules by flavor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Calibri"/>
              </a:defRPr>
            </a:pPr>
            <a:r>
              <a:t>/molecules_data/by-commonName — Molecule lookup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05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Calibri"/>
              </a:defRPr>
            </a:pPr>
            <a:r>
              <a:t>/molecules_data/filter-by-type — Chemical type filter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8463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Calibri"/>
              </a:defRPr>
            </a:pPr>
            <a:r>
              <a:t>/properties/by-description — Property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2120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Calibri"/>
              </a:defRPr>
            </a:pPr>
            <a:r>
              <a:t>/properties/taste-threshold — Taste threshold filter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737360"/>
            <a:ext cx="5303520" cy="41148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828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F00"/>
                </a:solidFill>
                <a:latin typeface="Calibri"/>
              </a:defRPr>
            </a:pPr>
            <a:r>
              <a:t>RecipeDB Endpoints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2860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Calibri"/>
              </a:defRPr>
            </a:pPr>
            <a:r>
              <a:t>/recipe-bytitle/recipeByTitle — Search 118K+ recipes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6517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Calibri"/>
              </a:defRPr>
            </a:pPr>
            <a:r>
              <a:t>/search-recipe/{id} — Full recipe details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0175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Calibri"/>
              </a:defRPr>
            </a:pPr>
            <a:r>
              <a:t>/instructions/{recipe_id} — Cooking instructions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3832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Calibri"/>
              </a:defRPr>
            </a:pPr>
            <a:r>
              <a:t>/recipe/recipeofday — Recipe of the 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74903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Calibri"/>
              </a:defRPr>
            </a:pPr>
            <a:r>
              <a:t>/recipe/recipesinfo — Paginated recipe 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1148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Calibri"/>
              </a:defRPr>
            </a:pPr>
            <a:r>
              <a:t>/recipes_cuisine/cuisine/{region} — Filter by cuisine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62 total endpoints documented and testable in our API Explorer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F00"/>
                </a:solidFill>
                <a:latin typeface="Calibri"/>
              </a:defRPr>
            </a:pPr>
            <a:r>
              <a:t>TECH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228600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2560320" cy="13716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66666"/>
                </a:solidFill>
                <a:latin typeface="Calibri"/>
              </a:defRPr>
            </a:pPr>
            <a:r>
              <a:t>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6F00"/>
                </a:solidFill>
                <a:latin typeface="Calibri"/>
              </a:defRPr>
            </a:pPr>
            <a:r>
              <a:t>Next.js 16.1.6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  <a:latin typeface="Calibri"/>
              </a:defRPr>
            </a:pPr>
            <a:r>
              <a:t>App Router + Turbopack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1188720"/>
            <a:ext cx="2560320" cy="13716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1325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66666"/>
                </a:solidFill>
                <a:latin typeface="Calibri"/>
              </a:defRPr>
            </a:pPr>
            <a:r>
              <a:t>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645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Calibri"/>
              </a:defRPr>
            </a:pPr>
            <a:r>
              <a:t>TypeScript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0574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  <a:latin typeface="Calibri"/>
              </a:defRPr>
            </a:pPr>
            <a:r>
              <a:t>Strict mode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188720"/>
            <a:ext cx="2560320" cy="13716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325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66666"/>
                </a:solidFill>
                <a:latin typeface="Calibri"/>
              </a:defRPr>
            </a:pPr>
            <a:r>
              <a:t>Styling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645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91E63"/>
                </a:solidFill>
                <a:latin typeface="Calibri"/>
              </a:defRPr>
            </a:pPr>
            <a:r>
              <a:t>Tailwind CSS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0574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  <a:latin typeface="Calibri"/>
              </a:defRPr>
            </a:pPr>
            <a:r>
              <a:t>shadcn/ui + Radix UI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188720"/>
            <a:ext cx="2560320" cy="13716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59" y="1325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66666"/>
                </a:solidFill>
                <a:latin typeface="Calibri"/>
              </a:defRPr>
            </a:pPr>
            <a:r>
              <a:t>Visualization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59" y="1645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6F00"/>
                </a:solidFill>
                <a:latin typeface="Calibri"/>
              </a:defRPr>
            </a:pPr>
            <a:r>
              <a:t>D3.js 7.9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59" y="20574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  <a:latin typeface="Calibri"/>
              </a:defRPr>
            </a:pPr>
            <a:r>
              <a:t>Recharts + Radial Charts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2834640"/>
            <a:ext cx="2560320" cy="13716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971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66666"/>
                </a:solidFill>
                <a:latin typeface="Calibri"/>
              </a:defRPr>
            </a:pPr>
            <a:r>
              <a:t>Animation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291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Calibri"/>
              </a:defRPr>
            </a:pPr>
            <a:r>
              <a:t>Framer Motion 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703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  <a:latin typeface="Calibri"/>
              </a:defRPr>
            </a:pPr>
            <a:r>
              <a:t>Spring physics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20439" y="2834640"/>
            <a:ext cx="2560320" cy="13716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2971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66666"/>
                </a:solidFill>
                <a:latin typeface="Calibri"/>
              </a:defRPr>
            </a:pPr>
            <a:r>
              <a:t>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3291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91E63"/>
                </a:solidFill>
                <a:latin typeface="Calibri"/>
              </a:defRPr>
            </a:pPr>
            <a:r>
              <a:t>Zustand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3703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  <a:latin typeface="Calibri"/>
              </a:defRPr>
            </a:pPr>
            <a:r>
              <a:t>Lightweight store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59" y="2834640"/>
            <a:ext cx="2560320" cy="13716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2971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66666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291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6F00"/>
                </a:solidFill>
                <a:latin typeface="Calibri"/>
              </a:defRPr>
            </a:pPr>
            <a:r>
              <a:t>React Query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703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  <a:latin typeface="Calibri"/>
              </a:defRPr>
            </a:pPr>
            <a:r>
              <a:t>24h localStorage cache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98280" y="2834640"/>
            <a:ext cx="2560320" cy="13716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81159" y="2971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66666"/>
                </a:solidFill>
                <a:latin typeface="Calibri"/>
              </a:defRPr>
            </a:pPr>
            <a:r>
              <a:t>APIs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59" y="3291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Calibri"/>
              </a:defRPr>
            </a:pPr>
            <a:r>
              <a:t>RecipeDB + FlavorDB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59" y="3703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  <a:latin typeface="Calibri"/>
              </a:defRPr>
            </a:pPr>
            <a:r>
              <a:t>CoSyLab, IIIT Delhi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4572000"/>
            <a:ext cx="10698480" cy="18288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F00"/>
                </a:solidFill>
                <a:latin typeface="Calibri"/>
              </a:defRPr>
            </a:pPr>
            <a:r>
              <a:t>Key Algorithms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02920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Calibri"/>
              </a:defRPr>
            </a:pPr>
            <a:r>
              <a:t>Molecular Fingerprinting — Aggregate molecules per ingredient, classify into 8 categories, radial chart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534924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Calibri"/>
              </a:defRPr>
            </a:pPr>
            <a:r>
              <a:t>Cross-Cultural Twinning — Jaccard similarity on molecule sets + low ingredient overlap = twin score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566928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Calibri"/>
              </a:defRPr>
            </a:pPr>
            <a:r>
              <a:t>Philosophy Spectrum — Average shared molecules per pair vs random baseline (Ahn et al., 2011)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598932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Calibri"/>
              </a:defRPr>
            </a:pPr>
            <a:r>
              <a:t>Ingredient Compatibility — Pairwise Jaccard similarity heatmap across ingredient palette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F00"/>
                </a:solidFill>
                <a:latin typeface="Calibri"/>
              </a:defRPr>
            </a:pPr>
            <a:r>
              <a:t>DEMO — CORE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228600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reenshot 2026-02-15 at 8.14.27 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5303520" cy="2377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52043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AAAAA"/>
                </a:solidFill>
                <a:latin typeface="Calibri"/>
              </a:defRPr>
            </a:pPr>
            <a:r>
              <a:t>Home — Recipe Search Hub</a:t>
            </a:r>
          </a:p>
        </p:txBody>
      </p:sp>
      <p:pic>
        <p:nvPicPr>
          <p:cNvPr id="6" name="Picture 5" descr="Screenshot 2026-02-15 at 8.14.52 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97280"/>
            <a:ext cx="5303520" cy="2377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352043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AAAAA"/>
                </a:solidFill>
                <a:latin typeface="Calibri"/>
              </a:defRPr>
            </a:pPr>
            <a:r>
              <a:t>Flavor Twins — Cross-Cultural Discovery</a:t>
            </a:r>
          </a:p>
        </p:txBody>
      </p:sp>
      <p:pic>
        <p:nvPicPr>
          <p:cNvPr id="8" name="Picture 7" descr="Screenshot 2026-02-15 at 8.15.04 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40480"/>
            <a:ext cx="5303520" cy="2377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2636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AAAAA"/>
                </a:solidFill>
                <a:latin typeface="Calibri"/>
              </a:defRPr>
            </a:pPr>
            <a:r>
              <a:t>Philosophy Spectrum — Pairing vs Contrast</a:t>
            </a:r>
          </a:p>
        </p:txBody>
      </p:sp>
      <p:pic>
        <p:nvPicPr>
          <p:cNvPr id="10" name="Picture 9" descr="Screenshot 2026-02-15 at 8.15.43 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840480"/>
            <a:ext cx="5303520" cy="2377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62636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AAAAA"/>
                </a:solidFill>
                <a:latin typeface="Calibri"/>
              </a:defRPr>
            </a:pPr>
            <a:r>
              <a:t>Cuisine DNA — Multi-Cuisine Comparison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F00"/>
                </a:solidFill>
                <a:latin typeface="Calibri"/>
              </a:defRPr>
            </a:pPr>
            <a:r>
              <a:t>DEMO — MOLECULAR KITCHEN LAB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274320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reenshot 2026-02-15 at 8.16.08 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5303520" cy="2377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52043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AAAAA"/>
                </a:solidFill>
                <a:latin typeface="Calibri"/>
              </a:defRPr>
            </a:pPr>
            <a:r>
              <a:t>Molecular Kitchen — Drag &amp; Drop Lab</a:t>
            </a:r>
          </a:p>
        </p:txBody>
      </p:sp>
      <p:pic>
        <p:nvPicPr>
          <p:cNvPr id="6" name="Picture 5" descr="Screenshot 2026-02-15 at 8.16.26 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97280"/>
            <a:ext cx="5303520" cy="2377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352043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AAAAA"/>
                </a:solidFill>
                <a:latin typeface="Calibri"/>
              </a:defRPr>
            </a:pPr>
            <a:r>
              <a:t>Compatibility Heatmap — Jaccard Matrix</a:t>
            </a:r>
          </a:p>
        </p:txBody>
      </p:sp>
      <p:pic>
        <p:nvPicPr>
          <p:cNvPr id="8" name="Picture 7" descr="Screenshot 2026-02-15 at 8.16.53 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40480"/>
            <a:ext cx="5303520" cy="2377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2636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AAAAA"/>
                </a:solidFill>
                <a:latin typeface="Calibri"/>
              </a:defRPr>
            </a:pPr>
            <a:r>
              <a:t>Fusion Lab — Cross-Cuisine Generator</a:t>
            </a:r>
          </a:p>
        </p:txBody>
      </p:sp>
      <p:pic>
        <p:nvPicPr>
          <p:cNvPr id="10" name="Picture 9" descr="Screenshot 2026-02-15 at 8.16.41 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840480"/>
            <a:ext cx="5303520" cy="2377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62636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AAAAA"/>
                </a:solidFill>
                <a:latin typeface="Calibri"/>
              </a:defRPr>
            </a:pPr>
            <a:r>
              <a:t>API Explorer — 62 Live Endpoints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F00"/>
                </a:solidFill>
                <a:latin typeface="Calibri"/>
              </a:defRPr>
            </a:pPr>
            <a:r>
              <a:t>API ISSUE LOG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82880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We documented API bugs and gaps constructively during development.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09728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Calibri"/>
              </a:defRPr>
            </a:pPr>
            <a:r>
              <a:t>Issue #1 — CRITICAL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6916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Entity endpoint returns metadata WITHOUT molecules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Calibri"/>
              </a:defRPr>
            </a:pPr>
            <a:r>
              <a:t>/entities/by-entity-alias-readable returns entity data but no molecules array.</a:t>
            </a:r>
            <a:br/>
            <a:r>
              <a:t>Cannot build live molecular analysis for arbitrary ingredients.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Workaround: Fallback to static FlavorDB molecule library (bundled dataset)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10698480" cy="109728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26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Issue #2 — MEDIUM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9260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Parameter naming inconsistency (flavorProfile)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24612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Calibri"/>
              </a:defRPr>
            </a:pPr>
            <a:r>
              <a:t>/molecules_data/by-flavorProfile uses camelCase URL but requires</a:t>
            </a:r>
            <a:br/>
            <a:r>
              <a:t>snake_case parameter 'flavor_profile' — 400 error with camelCase param.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65760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Workaround: Use snake_case parameter names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14800"/>
            <a:ext cx="10698480" cy="109728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160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Issue #3 — MEDIUM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1605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Parameter naming inconsistency (commonName)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48056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Calibri"/>
              </a:defRPr>
            </a:pPr>
            <a:r>
              <a:t>Same pattern as #2: /molecules_data/by-commonName likely requires</a:t>
            </a:r>
            <a:br/>
            <a:r>
              <a:t>'common_name' instead of 'commonName'.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89204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Workaround: Standardize parameter naming convention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49240"/>
            <a:ext cx="10698480" cy="109728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394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97316"/>
                </a:solidFill>
                <a:latin typeface="Calibri"/>
              </a:defRPr>
            </a:pPr>
            <a:r>
              <a:t>Issue #4 — 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53949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No endpoint to get molecules by entity/ingredient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71500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Calibri"/>
              </a:defRPr>
            </a:pPr>
            <a:r>
              <a:t>No way to ask 'What molecules does ingredient X contain?'</a:t>
            </a:r>
            <a:br/>
            <a:r>
              <a:t>Entity and Molecule controllers are disconnected.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612648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Workaround: Add GET /entities/{entity_id}/molecules endpoint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Full report: ISSUES.md in repository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F00"/>
                </a:solidFill>
                <a:latin typeface="Calibri"/>
              </a:defRPr>
            </a:pPr>
            <a:r>
              <a:t>CHALLENGES &amp; LEARNINGS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228600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394960" cy="155448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F00"/>
                </a:solidFill>
                <a:latin typeface="Calibri"/>
              </a:defRPr>
            </a:pPr>
            <a:r>
              <a:t>Mixed Protocols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API serves HTTP, Vercel deploys HTTPS. Built a proxy route (/api/proxy) to bridge the gap.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097280"/>
            <a:ext cx="5394960" cy="155448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280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Missing Molecule Mapping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69164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Entity endpoint returns metadata without molecules. Built a static 936-entity molecule cache as fallback.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5394960" cy="155448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1089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91E63"/>
                </a:solidFill>
                <a:latin typeface="Calibri"/>
              </a:defRPr>
            </a:pPr>
            <a:r>
              <a:t>Parameter Inconsistencies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52044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Endpoint URLs use camelCase but parameters require snake_case. Documented in ISSUES.md.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926080"/>
            <a:ext cx="5394960" cy="155448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31089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F00"/>
                </a:solidFill>
                <a:latin typeface="Calibri"/>
              </a:defRPr>
            </a:pPr>
            <a:r>
              <a:t>Large Dataset Handling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52044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118K recipes + 25K molecules. Implemented 24h localStorage caching with smart invalidation.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754880"/>
            <a:ext cx="5394960" cy="155448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9377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Zero-Credit Lab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34924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Built the entire Molecular Kitchen with pre-computed data — no API calls needed for experimentation.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754880"/>
            <a:ext cx="5394960" cy="155448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9377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91E63"/>
                </a:solidFill>
                <a:latin typeface="Calibri"/>
              </a:defRPr>
            </a:pPr>
            <a:r>
              <a:t>Cross-Cultural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534924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Jaccard similarity + ingredient overlap filtering to find genuine molecular twins, not just similar recipes.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0" y="2011680"/>
            <a:ext cx="393192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19456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6F00"/>
                </a:solidFill>
                <a:latin typeface="Calibri"/>
              </a:defRPr>
            </a:pPr>
            <a:r>
              <a:t>Built with science, served with flavor.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11480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Calibri"/>
              </a:defRPr>
            </a:pPr>
            <a:r>
              <a:t>Team CodeCatalysts  |  ForkIT Challenge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4846320"/>
            <a:ext cx="39319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530352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github.com/ayushap18/Codecatalysts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566928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API Issues documented in ISSUES.md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